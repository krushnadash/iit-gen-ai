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656" r:id="rId3"/>
    <p:sldId id="657" r:id="rId4"/>
    <p:sldId id="658" r:id="rId5"/>
    <p:sldId id="659" r:id="rId6"/>
    <p:sldId id="660" r:id="rId7"/>
    <p:sldId id="628" r:id="rId8"/>
    <p:sldId id="629" r:id="rId9"/>
    <p:sldId id="630" r:id="rId10"/>
    <p:sldId id="631" r:id="rId11"/>
    <p:sldId id="632" r:id="rId12"/>
    <p:sldId id="633" r:id="rId13"/>
    <p:sldId id="634" r:id="rId14"/>
    <p:sldId id="661" r:id="rId15"/>
    <p:sldId id="635" r:id="rId16"/>
    <p:sldId id="636" r:id="rId17"/>
    <p:sldId id="637" r:id="rId18"/>
    <p:sldId id="638" r:id="rId19"/>
    <p:sldId id="639" r:id="rId20"/>
    <p:sldId id="640" r:id="rId21"/>
    <p:sldId id="641" r:id="rId22"/>
    <p:sldId id="642" r:id="rId23"/>
    <p:sldId id="643" r:id="rId24"/>
    <p:sldId id="654" r:id="rId25"/>
    <p:sldId id="644" r:id="rId26"/>
    <p:sldId id="646" r:id="rId27"/>
    <p:sldId id="647" r:id="rId28"/>
    <p:sldId id="650" r:id="rId29"/>
    <p:sldId id="651" r:id="rId30"/>
    <p:sldId id="655" r:id="rId31"/>
    <p:sldId id="653" r:id="rId3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Quattrocento Sans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3C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4" autoAdjust="0"/>
    <p:restoredTop sz="94648"/>
  </p:normalViewPr>
  <p:slideViewPr>
    <p:cSldViewPr snapToGrid="0">
      <p:cViewPr varScale="1">
        <p:scale>
          <a:sx n="150" d="100"/>
          <a:sy n="150" d="100"/>
        </p:scale>
        <p:origin x="282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72822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256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75313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Google Shape;57;p13">
            <a:extLst>
              <a:ext uri="{FF2B5EF4-FFF2-40B4-BE49-F238E27FC236}">
                <a16:creationId xmlns:a16="http://schemas.microsoft.com/office/drawing/2014/main" id="{6B08C01F-26E7-6EB3-4FDA-AEA6AEB0BDF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15" y="7849"/>
            <a:ext cx="1241589" cy="757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645051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518807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Google Shape;57;p13">
            <a:extLst>
              <a:ext uri="{FF2B5EF4-FFF2-40B4-BE49-F238E27FC236}">
                <a16:creationId xmlns:a16="http://schemas.microsoft.com/office/drawing/2014/main" id="{E9BF2FD0-0B0B-CBAB-297A-0DD45A1CEED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15" y="7849"/>
            <a:ext cx="1241589" cy="757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5F0AD8-FC3E-F8BB-4050-B6A6EE80F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A4FEA3-CAFF-D21E-3145-9BF0BB0B1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07E65E-B04B-FAD7-29AA-8BA324C67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9B72-7EBF-4ADE-AD2F-38490C351408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C1D25D-FD0B-38F2-5BEE-9CF72749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1DE66F-6EAD-B85C-5284-2A71B5547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2C68-8034-446F-93B7-83D28157D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0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6736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381073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Google Shape;57;p13">
            <a:extLst>
              <a:ext uri="{FF2B5EF4-FFF2-40B4-BE49-F238E27FC236}">
                <a16:creationId xmlns:a16="http://schemas.microsoft.com/office/drawing/2014/main" id="{2A474C0A-6C11-5EF1-F168-EA0FF567C575}"/>
              </a:ext>
            </a:extLst>
          </p:cNvPr>
          <p:cNvPicPr preferRelativeResize="0"/>
          <p:nvPr userDrawn="1"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315" y="7849"/>
            <a:ext cx="1241589" cy="75746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6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89113" y="1159565"/>
            <a:ext cx="8222700" cy="6983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90000"/>
              </a:lnSpc>
              <a:buSzPct val="100000"/>
            </a:pPr>
            <a:r>
              <a:rPr lang="en-IN" sz="3600" dirty="0">
                <a:solidFill>
                  <a:srgbClr val="00B050"/>
                </a:solidFill>
              </a:rPr>
              <a:t>Introduction to Transformer Model</a:t>
            </a:r>
            <a:endParaRPr sz="3600" b="1" i="1" dirty="0">
              <a:solidFill>
                <a:srgbClr val="0000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91213" y="2416472"/>
            <a:ext cx="8520600" cy="14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IN" sz="3100" b="1" dirty="0">
                <a:solidFill>
                  <a:srgbClr val="000099"/>
                </a:solidFill>
              </a:rPr>
              <a:t>Jiaul Paik</a:t>
            </a:r>
          </a:p>
          <a:p>
            <a:pPr marL="0" lvl="0" indent="0" algn="ctr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endParaRPr lang="en-IN" sz="2400" b="1" dirty="0">
              <a:solidFill>
                <a:srgbClr val="000099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Department of AI</a:t>
            </a:r>
            <a:endParaRPr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" sz="2000" b="1" dirty="0">
                <a:solidFill>
                  <a:schemeClr val="accent1">
                    <a:lumMod val="50000"/>
                  </a:schemeClr>
                </a:solidFill>
              </a:rPr>
              <a:t>IIT Kharagpur</a:t>
            </a:r>
          </a:p>
          <a:p>
            <a:pPr marL="0" lvl="0" indent="0" algn="ctr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endParaRPr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IN" sz="1800" i="1" dirty="0">
                <a:solidFill>
                  <a:srgbClr val="7030A0"/>
                </a:solidFill>
              </a:rPr>
              <a:t>jiaul@ai.iitkgp.ac.in</a:t>
            </a:r>
            <a:endParaRPr sz="1800" i="1" dirty="0">
              <a:solidFill>
                <a:srgbClr val="7030A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31700" y="208525"/>
            <a:ext cx="1923000" cy="6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944757" y="4470245"/>
            <a:ext cx="53074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© 2026 IITKGP AI4ICPS I Hub Foundation. All rights reserved.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CF72-D53B-43FE-AE25-D067CE66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124487"/>
            <a:ext cx="7225750" cy="572700"/>
          </a:xfrm>
        </p:spPr>
        <p:txBody>
          <a:bodyPr>
            <a:normAutofit fontScale="90000"/>
          </a:bodyPr>
          <a:lstStyle/>
          <a:p>
            <a:r>
              <a:rPr lang="en-IN" dirty="0"/>
              <a:t>Recap of Necessary Concepts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E1BC4-E757-4257-8238-C64E63BB3D9B}"/>
              </a:ext>
            </a:extLst>
          </p:cNvPr>
          <p:cNvSpPr txBox="1"/>
          <p:nvPr/>
        </p:nvSpPr>
        <p:spPr>
          <a:xfrm>
            <a:off x="844550" y="1441450"/>
            <a:ext cx="545534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Projection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Feedforward Neural Net and its matrix form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/>
              <a:t>Softmax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Layer Normalization </a:t>
            </a:r>
          </a:p>
        </p:txBody>
      </p:sp>
    </p:spTree>
    <p:extLst>
      <p:ext uri="{BB962C8B-B14F-4D97-AF65-F5344CB8AC3E}">
        <p14:creationId xmlns:p14="http://schemas.microsoft.com/office/powerpoint/2010/main" val="2301104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FF41-71C1-4DDF-A72D-EA000D357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650" y="213387"/>
            <a:ext cx="7498800" cy="572700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Projection and Learning</a:t>
            </a:r>
          </a:p>
        </p:txBody>
      </p:sp>
    </p:spTree>
    <p:extLst>
      <p:ext uri="{BB962C8B-B14F-4D97-AF65-F5344CB8AC3E}">
        <p14:creationId xmlns:p14="http://schemas.microsoft.com/office/powerpoint/2010/main" val="388256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5A184-7EED-4509-9044-46410D3B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162587"/>
            <a:ext cx="6908250" cy="572700"/>
          </a:xfrm>
        </p:spPr>
        <p:txBody>
          <a:bodyPr>
            <a:normAutofit fontScale="90000"/>
          </a:bodyPr>
          <a:lstStyle/>
          <a:p>
            <a:r>
              <a:rPr lang="en-IN" dirty="0"/>
              <a:t>Feedforward Neural Net and its Matrix Form </a:t>
            </a:r>
            <a:br>
              <a:rPr lang="en-IN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1CDAA1-CE59-42C9-AB60-01F11B393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059" y="1057083"/>
            <a:ext cx="3261491" cy="179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540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1A66-DBCE-404B-9929-9D3BB7ABD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050" y="162587"/>
            <a:ext cx="7441650" cy="572700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Softmax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9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20AD-4CA8-4EAA-8644-40BB8F855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700" y="175287"/>
            <a:ext cx="7282900" cy="572700"/>
          </a:xfrm>
        </p:spPr>
        <p:txBody>
          <a:bodyPr>
            <a:normAutofit fontScale="90000"/>
          </a:bodyPr>
          <a:lstStyle/>
          <a:p>
            <a:r>
              <a:rPr lang="en-IN" dirty="0"/>
              <a:t>Layer Normalization </a:t>
            </a:r>
            <a:br>
              <a:rPr lang="en-IN" dirty="0"/>
            </a:b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010FEA-DE1D-4EC8-927E-7128DF03F40E}"/>
              </a:ext>
            </a:extLst>
          </p:cNvPr>
          <p:cNvSpPr/>
          <p:nvPr/>
        </p:nvSpPr>
        <p:spPr>
          <a:xfrm>
            <a:off x="755650" y="1111359"/>
            <a:ext cx="7282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a given data input and layer, it computes the mean and variance </a:t>
            </a:r>
          </a:p>
          <a:p>
            <a:r>
              <a:rPr lang="en-US" dirty="0"/>
              <a:t>over all the neurons in the layer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2341AA-EA37-477B-A150-BB90AA47B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97" y="1997951"/>
            <a:ext cx="3761103" cy="177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81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6384-7D73-4281-A196-B1517536D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21126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70C0"/>
                </a:solidFill>
              </a:rPr>
              <a:t>What is Transformer?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16" y="1901687"/>
            <a:ext cx="78021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A Neural network that processes sequential data, understands the context </a:t>
            </a:r>
          </a:p>
          <a:p>
            <a:r>
              <a:rPr lang="en-IN" sz="1800" dirty="0"/>
              <a:t>and performs a set of tasks such as 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800" dirty="0"/>
              <a:t>Classification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800" dirty="0"/>
              <a:t>Translation 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800" dirty="0"/>
              <a:t>Language Understanding </a:t>
            </a:r>
          </a:p>
        </p:txBody>
      </p:sp>
    </p:spTree>
    <p:extLst>
      <p:ext uri="{BB962C8B-B14F-4D97-AF65-F5344CB8AC3E}">
        <p14:creationId xmlns:p14="http://schemas.microsoft.com/office/powerpoint/2010/main" val="1128930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557131" y="218515"/>
            <a:ext cx="6269058" cy="5567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IN" b="1" dirty="0">
                <a:solidFill>
                  <a:srgbClr val="0070C0"/>
                </a:solidFill>
              </a:rPr>
              <a:t>What is Transformer?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875630" y="1961231"/>
            <a:ext cx="2610769" cy="139367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Transformer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152" y="2504177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 like music </a:t>
            </a:r>
          </a:p>
        </p:txBody>
      </p:sp>
      <p:cxnSp>
        <p:nvCxnSpPr>
          <p:cNvPr id="6" name="Straight Arrow Connector 5"/>
          <p:cNvCxnSpPr>
            <a:stCxn id="4" idx="3"/>
            <a:endCxn id="3" idx="1"/>
          </p:cNvCxnSpPr>
          <p:nvPr/>
        </p:nvCxnSpPr>
        <p:spPr>
          <a:xfrm>
            <a:off x="1782972" y="2658066"/>
            <a:ext cx="109265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3" idx="3"/>
          </p:cNvCxnSpPr>
          <p:nvPr/>
        </p:nvCxnSpPr>
        <p:spPr>
          <a:xfrm flipV="1">
            <a:off x="5486399" y="2658065"/>
            <a:ext cx="1172955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849113" y="2504176"/>
            <a:ext cx="17267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me </a:t>
            </a:r>
            <a:r>
              <a:rPr lang="en-IN" dirty="0" err="1"/>
              <a:t>gusta</a:t>
            </a:r>
            <a:r>
              <a:rPr lang="en-IN" dirty="0"/>
              <a:t> la </a:t>
            </a:r>
            <a:r>
              <a:rPr lang="en-IN" dirty="0" err="1"/>
              <a:t>musica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6067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557131" y="218515"/>
            <a:ext cx="6269058" cy="5567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Transformer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0022" y="2724281"/>
            <a:ext cx="2320684" cy="8135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ENCODER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06778" y="2724281"/>
            <a:ext cx="2320684" cy="8135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DECODER</a:t>
            </a:r>
          </a:p>
        </p:txBody>
      </p:sp>
      <p:cxnSp>
        <p:nvCxnSpPr>
          <p:cNvPr id="5" name="Straight Arrow Connector 4"/>
          <p:cNvCxnSpPr>
            <a:stCxn id="3" idx="3"/>
            <a:endCxn id="6" idx="1"/>
          </p:cNvCxnSpPr>
          <p:nvPr/>
        </p:nvCxnSpPr>
        <p:spPr>
          <a:xfrm>
            <a:off x="3360706" y="3131032"/>
            <a:ext cx="154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317494" y="4420650"/>
            <a:ext cx="1765738" cy="277473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 like music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11729" y="1426253"/>
            <a:ext cx="1910781" cy="27747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me gusta la musica</a:t>
            </a:r>
            <a:endParaRPr lang="en-IN" dirty="0"/>
          </a:p>
        </p:txBody>
      </p:sp>
      <p:cxnSp>
        <p:nvCxnSpPr>
          <p:cNvPr id="9" name="Straight Arrow Connector 8"/>
          <p:cNvCxnSpPr>
            <a:stCxn id="14" idx="0"/>
            <a:endCxn id="3" idx="2"/>
          </p:cNvCxnSpPr>
          <p:nvPr/>
        </p:nvCxnSpPr>
        <p:spPr>
          <a:xfrm flipV="1">
            <a:off x="2200363" y="3537782"/>
            <a:ext cx="1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0"/>
            <a:endCxn id="10" idx="2"/>
          </p:cNvCxnSpPr>
          <p:nvPr/>
        </p:nvCxnSpPr>
        <p:spPr>
          <a:xfrm flipV="1">
            <a:off x="6067120" y="1703726"/>
            <a:ext cx="0" cy="1020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317494" y="3903542"/>
            <a:ext cx="1765738" cy="2396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Embedding</a:t>
            </a:r>
          </a:p>
        </p:txBody>
      </p:sp>
      <p:cxnSp>
        <p:nvCxnSpPr>
          <p:cNvPr id="17" name="Straight Arrow Connector 16"/>
          <p:cNvCxnSpPr>
            <a:stCxn id="7" idx="0"/>
            <a:endCxn id="14" idx="2"/>
          </p:cNvCxnSpPr>
          <p:nvPr/>
        </p:nvCxnSpPr>
        <p:spPr>
          <a:xfrm flipV="1">
            <a:off x="2200363" y="4143177"/>
            <a:ext cx="0" cy="277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25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557131" y="133913"/>
            <a:ext cx="6269058" cy="44683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Transformer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5878" y="1317997"/>
            <a:ext cx="2320684" cy="286301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4691660" y="1247211"/>
            <a:ext cx="2320684" cy="285282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411425" y="4727323"/>
            <a:ext cx="1489589" cy="173059"/>
          </a:xfrm>
          <a:prstGeom prst="rect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 like music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6611" y="778725"/>
            <a:ext cx="1910781" cy="27747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me gusta la musica</a:t>
            </a:r>
            <a:endParaRPr lang="en-IN" dirty="0"/>
          </a:p>
        </p:txBody>
      </p:sp>
      <p:cxnSp>
        <p:nvCxnSpPr>
          <p:cNvPr id="11" name="Straight Arrow Connector 10"/>
          <p:cNvCxnSpPr>
            <a:stCxn id="6" idx="0"/>
            <a:endCxn id="10" idx="2"/>
          </p:cNvCxnSpPr>
          <p:nvPr/>
        </p:nvCxnSpPr>
        <p:spPr>
          <a:xfrm flipV="1">
            <a:off x="5852002" y="1056198"/>
            <a:ext cx="0" cy="191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258909" y="3803648"/>
            <a:ext cx="1706332" cy="296392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Encoder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58909" y="3331689"/>
            <a:ext cx="1706332" cy="296392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Encoder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58909" y="2841817"/>
            <a:ext cx="1706332" cy="296392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Encoder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64711" y="2369858"/>
            <a:ext cx="1706332" cy="296392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Encoder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8909" y="1912587"/>
            <a:ext cx="1706332" cy="296392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Encoder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58909" y="1418215"/>
            <a:ext cx="1706332" cy="296392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Encoder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40754" y="3733275"/>
            <a:ext cx="1910781" cy="2648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Decoder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40749" y="3293488"/>
            <a:ext cx="1910781" cy="2648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4940749" y="2821529"/>
            <a:ext cx="1910781" cy="2648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4" name="Rounded Rectangle 23"/>
          <p:cNvSpPr/>
          <p:nvPr/>
        </p:nvSpPr>
        <p:spPr>
          <a:xfrm>
            <a:off x="4940749" y="2349570"/>
            <a:ext cx="1910781" cy="2648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5" name="Rounded Rectangle 24"/>
          <p:cNvSpPr/>
          <p:nvPr/>
        </p:nvSpPr>
        <p:spPr>
          <a:xfrm>
            <a:off x="4940749" y="1888130"/>
            <a:ext cx="1910781" cy="2648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Decoder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40748" y="1403377"/>
            <a:ext cx="1910781" cy="2648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Decoder 6</a:t>
            </a:r>
          </a:p>
        </p:txBody>
      </p:sp>
      <p:cxnSp>
        <p:nvCxnSpPr>
          <p:cNvPr id="33" name="Straight Arrow Connector 32"/>
          <p:cNvCxnSpPr>
            <a:stCxn id="19" idx="3"/>
            <a:endCxn id="20" idx="1"/>
          </p:cNvCxnSpPr>
          <p:nvPr/>
        </p:nvCxnSpPr>
        <p:spPr>
          <a:xfrm>
            <a:off x="2965241" y="1566411"/>
            <a:ext cx="1975513" cy="229929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9" idx="3"/>
            <a:endCxn id="22" idx="1"/>
          </p:cNvCxnSpPr>
          <p:nvPr/>
        </p:nvCxnSpPr>
        <p:spPr>
          <a:xfrm>
            <a:off x="2965241" y="1566411"/>
            <a:ext cx="1975508" cy="185950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9" idx="3"/>
            <a:endCxn id="23" idx="1"/>
          </p:cNvCxnSpPr>
          <p:nvPr/>
        </p:nvCxnSpPr>
        <p:spPr>
          <a:xfrm>
            <a:off x="2965241" y="1566411"/>
            <a:ext cx="1975508" cy="138754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9" idx="3"/>
            <a:endCxn id="24" idx="1"/>
          </p:cNvCxnSpPr>
          <p:nvPr/>
        </p:nvCxnSpPr>
        <p:spPr>
          <a:xfrm>
            <a:off x="2965241" y="1566411"/>
            <a:ext cx="1975508" cy="91558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9" idx="3"/>
            <a:endCxn id="25" idx="1"/>
          </p:cNvCxnSpPr>
          <p:nvPr/>
        </p:nvCxnSpPr>
        <p:spPr>
          <a:xfrm>
            <a:off x="2965241" y="1566411"/>
            <a:ext cx="1975508" cy="45414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9" idx="3"/>
            <a:endCxn id="26" idx="1"/>
          </p:cNvCxnSpPr>
          <p:nvPr/>
        </p:nvCxnSpPr>
        <p:spPr>
          <a:xfrm flipV="1">
            <a:off x="2965241" y="1535807"/>
            <a:ext cx="1975507" cy="3060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940748" y="3274436"/>
            <a:ext cx="1910781" cy="2648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Decoder 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40748" y="2802477"/>
            <a:ext cx="1910781" cy="2648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Decoder 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40748" y="2330518"/>
            <a:ext cx="1910781" cy="2648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Decoder 4</a:t>
            </a:r>
          </a:p>
        </p:txBody>
      </p:sp>
      <p:cxnSp>
        <p:nvCxnSpPr>
          <p:cNvPr id="54" name="Straight Arrow Connector 53"/>
          <p:cNvCxnSpPr>
            <a:stCxn id="13" idx="0"/>
            <a:endCxn id="15" idx="2"/>
          </p:cNvCxnSpPr>
          <p:nvPr/>
        </p:nvCxnSpPr>
        <p:spPr>
          <a:xfrm flipV="1">
            <a:off x="2112075" y="3628081"/>
            <a:ext cx="0" cy="175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5" idx="0"/>
            <a:endCxn id="16" idx="2"/>
          </p:cNvCxnSpPr>
          <p:nvPr/>
        </p:nvCxnSpPr>
        <p:spPr>
          <a:xfrm flipV="1">
            <a:off x="2112075" y="3138209"/>
            <a:ext cx="0" cy="193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6" idx="0"/>
            <a:endCxn id="17" idx="2"/>
          </p:cNvCxnSpPr>
          <p:nvPr/>
        </p:nvCxnSpPr>
        <p:spPr>
          <a:xfrm flipV="1">
            <a:off x="2112075" y="2666250"/>
            <a:ext cx="5802" cy="175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17" idx="0"/>
            <a:endCxn id="18" idx="2"/>
          </p:cNvCxnSpPr>
          <p:nvPr/>
        </p:nvCxnSpPr>
        <p:spPr>
          <a:xfrm flipH="1" flipV="1">
            <a:off x="2112075" y="2208979"/>
            <a:ext cx="5802" cy="160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18" idx="0"/>
            <a:endCxn id="19" idx="2"/>
          </p:cNvCxnSpPr>
          <p:nvPr/>
        </p:nvCxnSpPr>
        <p:spPr>
          <a:xfrm flipV="1">
            <a:off x="2112075" y="1714607"/>
            <a:ext cx="0" cy="197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96" name="Straight Arrow Connector 29695"/>
          <p:cNvCxnSpPr>
            <a:stCxn id="20" idx="0"/>
            <a:endCxn id="50" idx="2"/>
          </p:cNvCxnSpPr>
          <p:nvPr/>
        </p:nvCxnSpPr>
        <p:spPr>
          <a:xfrm flipH="1" flipV="1">
            <a:off x="5896139" y="3539296"/>
            <a:ext cx="6" cy="193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99" name="Straight Arrow Connector 29698"/>
          <p:cNvCxnSpPr>
            <a:stCxn id="50" idx="0"/>
            <a:endCxn id="51" idx="2"/>
          </p:cNvCxnSpPr>
          <p:nvPr/>
        </p:nvCxnSpPr>
        <p:spPr>
          <a:xfrm flipV="1">
            <a:off x="5896139" y="3067337"/>
            <a:ext cx="0" cy="207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01" name="Straight Arrow Connector 29700"/>
          <p:cNvCxnSpPr>
            <a:stCxn id="51" idx="0"/>
            <a:endCxn id="52" idx="2"/>
          </p:cNvCxnSpPr>
          <p:nvPr/>
        </p:nvCxnSpPr>
        <p:spPr>
          <a:xfrm flipV="1">
            <a:off x="5896139" y="2595378"/>
            <a:ext cx="0" cy="207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03" name="Straight Arrow Connector 29702"/>
          <p:cNvCxnSpPr>
            <a:stCxn id="52" idx="0"/>
            <a:endCxn id="25" idx="2"/>
          </p:cNvCxnSpPr>
          <p:nvPr/>
        </p:nvCxnSpPr>
        <p:spPr>
          <a:xfrm flipV="1">
            <a:off x="5896139" y="2152990"/>
            <a:ext cx="1" cy="177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05" name="Straight Arrow Connector 29704"/>
          <p:cNvCxnSpPr>
            <a:stCxn id="25" idx="0"/>
            <a:endCxn id="26" idx="2"/>
          </p:cNvCxnSpPr>
          <p:nvPr/>
        </p:nvCxnSpPr>
        <p:spPr>
          <a:xfrm flipH="1" flipV="1">
            <a:off x="5896139" y="1668237"/>
            <a:ext cx="1" cy="219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7" name="Rounded Rectangle 29706"/>
          <p:cNvSpPr/>
          <p:nvPr/>
        </p:nvSpPr>
        <p:spPr>
          <a:xfrm>
            <a:off x="1379311" y="4356582"/>
            <a:ext cx="1553816" cy="1765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FFFF00"/>
                </a:solidFill>
              </a:rPr>
              <a:t>Embedding </a:t>
            </a:r>
          </a:p>
        </p:txBody>
      </p:sp>
      <p:cxnSp>
        <p:nvCxnSpPr>
          <p:cNvPr id="29709" name="Straight Arrow Connector 29708"/>
          <p:cNvCxnSpPr>
            <a:stCxn id="7" idx="0"/>
            <a:endCxn id="29707" idx="2"/>
          </p:cNvCxnSpPr>
          <p:nvPr/>
        </p:nvCxnSpPr>
        <p:spPr>
          <a:xfrm flipH="1" flipV="1">
            <a:off x="2156219" y="4533156"/>
            <a:ext cx="1" cy="194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12" name="Straight Arrow Connector 29711"/>
          <p:cNvCxnSpPr>
            <a:stCxn id="29707" idx="0"/>
            <a:endCxn id="3" idx="2"/>
          </p:cNvCxnSpPr>
          <p:nvPr/>
        </p:nvCxnSpPr>
        <p:spPr>
          <a:xfrm flipV="1">
            <a:off x="2156219" y="4181015"/>
            <a:ext cx="1" cy="175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661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538213" y="176574"/>
            <a:ext cx="6269058" cy="5044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Encoder Block: Inside Look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50417" y="1097280"/>
            <a:ext cx="3033285" cy="315310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981671" y="4779158"/>
            <a:ext cx="1489589" cy="190594"/>
          </a:xfrm>
          <a:prstGeom prst="rect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 like music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9557" y="4408060"/>
            <a:ext cx="1553816" cy="1944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FFFF00"/>
                </a:solidFill>
              </a:rPr>
              <a:t>Embedding </a:t>
            </a:r>
          </a:p>
        </p:txBody>
      </p:sp>
      <p:cxnSp>
        <p:nvCxnSpPr>
          <p:cNvPr id="19" name="Straight Arrow Connector 18"/>
          <p:cNvCxnSpPr>
            <a:stCxn id="6" idx="0"/>
            <a:endCxn id="18" idx="2"/>
          </p:cNvCxnSpPr>
          <p:nvPr/>
        </p:nvCxnSpPr>
        <p:spPr>
          <a:xfrm flipH="1" flipV="1">
            <a:off x="3726465" y="4602525"/>
            <a:ext cx="1" cy="176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8" idx="0"/>
          </p:cNvCxnSpPr>
          <p:nvPr/>
        </p:nvCxnSpPr>
        <p:spPr>
          <a:xfrm flipV="1">
            <a:off x="3726465" y="3834175"/>
            <a:ext cx="0" cy="573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676481" y="3411658"/>
            <a:ext cx="2099967" cy="422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Multi-headed attention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3115266" y="3834175"/>
            <a:ext cx="611198" cy="286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3726464" y="3834175"/>
            <a:ext cx="744796" cy="286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676481" y="2803099"/>
            <a:ext cx="2099966" cy="3153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Add and normalize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76481" y="2169335"/>
            <a:ext cx="2099966" cy="3153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Feedforward Network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76481" y="1437815"/>
            <a:ext cx="2099966" cy="3153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Add and normalize</a:t>
            </a:r>
          </a:p>
        </p:txBody>
      </p:sp>
      <p:cxnSp>
        <p:nvCxnSpPr>
          <p:cNvPr id="32" name="Straight Arrow Connector 31"/>
          <p:cNvCxnSpPr>
            <a:stCxn id="4" idx="0"/>
            <a:endCxn id="26" idx="2"/>
          </p:cNvCxnSpPr>
          <p:nvPr/>
        </p:nvCxnSpPr>
        <p:spPr>
          <a:xfrm flipH="1" flipV="1">
            <a:off x="3726464" y="3118410"/>
            <a:ext cx="1" cy="293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endCxn id="26" idx="1"/>
          </p:cNvCxnSpPr>
          <p:nvPr/>
        </p:nvCxnSpPr>
        <p:spPr>
          <a:xfrm rot="16200000" flipV="1">
            <a:off x="2621291" y="3015945"/>
            <a:ext cx="1160362" cy="1049982"/>
          </a:xfrm>
          <a:prstGeom prst="bentConnector4">
            <a:avLst>
              <a:gd name="adj1" fmla="val -2444"/>
              <a:gd name="adj2" fmla="val 121772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26" idx="0"/>
            <a:endCxn id="29" idx="2"/>
          </p:cNvCxnSpPr>
          <p:nvPr/>
        </p:nvCxnSpPr>
        <p:spPr>
          <a:xfrm flipV="1">
            <a:off x="3726464" y="2484646"/>
            <a:ext cx="0" cy="318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/>
          <p:nvPr/>
        </p:nvCxnSpPr>
        <p:spPr>
          <a:xfrm rot="10800000">
            <a:off x="2676481" y="1652214"/>
            <a:ext cx="1049984" cy="1021622"/>
          </a:xfrm>
          <a:prstGeom prst="bentConnector3">
            <a:avLst>
              <a:gd name="adj1" fmla="val 123273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702" name="Straight Arrow Connector 29701"/>
          <p:cNvCxnSpPr>
            <a:stCxn id="29" idx="0"/>
            <a:endCxn id="30" idx="2"/>
          </p:cNvCxnSpPr>
          <p:nvPr/>
        </p:nvCxnSpPr>
        <p:spPr>
          <a:xfrm flipV="1">
            <a:off x="3726464" y="1753126"/>
            <a:ext cx="0" cy="416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04" name="Straight Arrow Connector 29703"/>
          <p:cNvCxnSpPr>
            <a:stCxn id="30" idx="0"/>
          </p:cNvCxnSpPr>
          <p:nvPr/>
        </p:nvCxnSpPr>
        <p:spPr>
          <a:xfrm flipH="1" flipV="1">
            <a:off x="3726463" y="1198179"/>
            <a:ext cx="1" cy="239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083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538213" y="176574"/>
            <a:ext cx="6269058" cy="5044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Encoder Block: Multi-headed Attention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99" y="1243805"/>
            <a:ext cx="1677157" cy="21993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44998" y="1243805"/>
            <a:ext cx="4338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Application of self attention mechanism on the input multiple times to generate multiple representation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157" y="3999291"/>
            <a:ext cx="1456492" cy="6635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98146" y="2995449"/>
            <a:ext cx="1097280" cy="3090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Self attention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47517" y="2995449"/>
            <a:ext cx="1097280" cy="3090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Self attention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96888" y="2995449"/>
            <a:ext cx="1097280" cy="3090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Self attention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46259" y="2995449"/>
            <a:ext cx="1097280" cy="3090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Self attention</a:t>
            </a:r>
          </a:p>
        </p:txBody>
      </p:sp>
      <p:cxnSp>
        <p:nvCxnSpPr>
          <p:cNvPr id="11" name="Straight Arrow Connector 10"/>
          <p:cNvCxnSpPr>
            <a:stCxn id="7" idx="0"/>
            <a:endCxn id="8" idx="2"/>
          </p:cNvCxnSpPr>
          <p:nvPr/>
        </p:nvCxnSpPr>
        <p:spPr>
          <a:xfrm flipH="1" flipV="1">
            <a:off x="3846786" y="3304453"/>
            <a:ext cx="2077617" cy="69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0"/>
            <a:endCxn id="24" idx="2"/>
          </p:cNvCxnSpPr>
          <p:nvPr/>
        </p:nvCxnSpPr>
        <p:spPr>
          <a:xfrm flipH="1" flipV="1">
            <a:off x="5196157" y="3304453"/>
            <a:ext cx="728246" cy="69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0"/>
            <a:endCxn id="27" idx="2"/>
          </p:cNvCxnSpPr>
          <p:nvPr/>
        </p:nvCxnSpPr>
        <p:spPr>
          <a:xfrm flipV="1">
            <a:off x="5924403" y="3304453"/>
            <a:ext cx="621125" cy="69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28" idx="2"/>
          </p:cNvCxnSpPr>
          <p:nvPr/>
        </p:nvCxnSpPr>
        <p:spPr>
          <a:xfrm flipV="1">
            <a:off x="5924403" y="3304453"/>
            <a:ext cx="1970496" cy="69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8" idx="0"/>
          </p:cNvCxnSpPr>
          <p:nvPr/>
        </p:nvCxnSpPr>
        <p:spPr>
          <a:xfrm flipV="1">
            <a:off x="3846786" y="2692750"/>
            <a:ext cx="0" cy="302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4" idx="0"/>
          </p:cNvCxnSpPr>
          <p:nvPr/>
        </p:nvCxnSpPr>
        <p:spPr>
          <a:xfrm flipV="1">
            <a:off x="5196157" y="2699057"/>
            <a:ext cx="0" cy="29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7" idx="0"/>
          </p:cNvCxnSpPr>
          <p:nvPr/>
        </p:nvCxnSpPr>
        <p:spPr>
          <a:xfrm flipV="1">
            <a:off x="6545528" y="2692750"/>
            <a:ext cx="0" cy="302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8" idx="0"/>
          </p:cNvCxnSpPr>
          <p:nvPr/>
        </p:nvCxnSpPr>
        <p:spPr>
          <a:xfrm flipV="1">
            <a:off x="7894899" y="2692750"/>
            <a:ext cx="0" cy="302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298146" y="2401242"/>
            <a:ext cx="1097280" cy="239636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Output (vectors)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72742" y="2401242"/>
            <a:ext cx="1097280" cy="239636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Output (vectors)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28419" y="2397378"/>
            <a:ext cx="1097280" cy="239636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Output (vectors)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84096" y="2383746"/>
            <a:ext cx="1097280" cy="239636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Output (vectors)</a:t>
            </a:r>
          </a:p>
        </p:txBody>
      </p:sp>
    </p:spTree>
    <p:extLst>
      <p:ext uri="{BB962C8B-B14F-4D97-AF65-F5344CB8AC3E}">
        <p14:creationId xmlns:p14="http://schemas.microsoft.com/office/powerpoint/2010/main" val="3661697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625841" y="169951"/>
            <a:ext cx="6269058" cy="5044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Understanding Self-attention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7559" y="1059443"/>
            <a:ext cx="7662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Goal:</a:t>
            </a:r>
            <a:r>
              <a:rPr lang="en-IN" dirty="0"/>
              <a:t> to understand the relationship between different units (</a:t>
            </a:r>
            <a:r>
              <a:rPr lang="en-IN" dirty="0" err="1"/>
              <a:t>e.g</a:t>
            </a:r>
            <a:r>
              <a:rPr lang="en-IN" dirty="0"/>
              <a:t>, words) in the input sequence.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4828" y="1682846"/>
            <a:ext cx="3222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I                    love                      music</a:t>
            </a:r>
          </a:p>
        </p:txBody>
      </p:sp>
      <p:sp>
        <p:nvSpPr>
          <p:cNvPr id="6" name="Pentagon 5"/>
          <p:cNvSpPr/>
          <p:nvPr/>
        </p:nvSpPr>
        <p:spPr>
          <a:xfrm>
            <a:off x="736881" y="1752215"/>
            <a:ext cx="978408" cy="238408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input</a:t>
            </a:r>
          </a:p>
        </p:txBody>
      </p:sp>
      <p:sp>
        <p:nvSpPr>
          <p:cNvPr id="25" name="Pentagon 24"/>
          <p:cNvSpPr/>
          <p:nvPr/>
        </p:nvSpPr>
        <p:spPr>
          <a:xfrm>
            <a:off x="733256" y="2408586"/>
            <a:ext cx="978408" cy="238408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Embedding</a:t>
            </a:r>
          </a:p>
        </p:txBody>
      </p:sp>
      <p:sp>
        <p:nvSpPr>
          <p:cNvPr id="26" name="Pentagon 25"/>
          <p:cNvSpPr/>
          <p:nvPr/>
        </p:nvSpPr>
        <p:spPr>
          <a:xfrm>
            <a:off x="736881" y="3064957"/>
            <a:ext cx="978408" cy="238408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Queries</a:t>
            </a:r>
          </a:p>
        </p:txBody>
      </p:sp>
      <p:sp>
        <p:nvSpPr>
          <p:cNvPr id="29" name="Pentagon 28"/>
          <p:cNvSpPr/>
          <p:nvPr/>
        </p:nvSpPr>
        <p:spPr>
          <a:xfrm>
            <a:off x="733256" y="3796477"/>
            <a:ext cx="978408" cy="238408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Keys</a:t>
            </a:r>
          </a:p>
        </p:txBody>
      </p:sp>
      <p:sp>
        <p:nvSpPr>
          <p:cNvPr id="30" name="Pentagon 29"/>
          <p:cNvSpPr/>
          <p:nvPr/>
        </p:nvSpPr>
        <p:spPr>
          <a:xfrm>
            <a:off x="733256" y="4408793"/>
            <a:ext cx="978408" cy="238408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Values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817015"/>
              </p:ext>
            </p:extLst>
          </p:nvPr>
        </p:nvGraphicFramePr>
        <p:xfrm>
          <a:off x="2123090" y="2375390"/>
          <a:ext cx="758847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669327"/>
              </p:ext>
            </p:extLst>
          </p:nvPr>
        </p:nvGraphicFramePr>
        <p:xfrm>
          <a:off x="3356425" y="2379646"/>
          <a:ext cx="758847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531544"/>
              </p:ext>
            </p:extLst>
          </p:nvPr>
        </p:nvGraphicFramePr>
        <p:xfrm>
          <a:off x="4760370" y="2375390"/>
          <a:ext cx="758847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642873"/>
              </p:ext>
            </p:extLst>
          </p:nvPr>
        </p:nvGraphicFramePr>
        <p:xfrm>
          <a:off x="2123090" y="3064957"/>
          <a:ext cx="758847" cy="304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20190"/>
              </p:ext>
            </p:extLst>
          </p:nvPr>
        </p:nvGraphicFramePr>
        <p:xfrm>
          <a:off x="3356425" y="3069213"/>
          <a:ext cx="758847" cy="304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311247"/>
              </p:ext>
            </p:extLst>
          </p:nvPr>
        </p:nvGraphicFramePr>
        <p:xfrm>
          <a:off x="4760370" y="3064957"/>
          <a:ext cx="758847" cy="304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646367"/>
              </p:ext>
            </p:extLst>
          </p:nvPr>
        </p:nvGraphicFramePr>
        <p:xfrm>
          <a:off x="2123090" y="3754524"/>
          <a:ext cx="758847" cy="3048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24649"/>
              </p:ext>
            </p:extLst>
          </p:nvPr>
        </p:nvGraphicFramePr>
        <p:xfrm>
          <a:off x="3356425" y="3758780"/>
          <a:ext cx="758847" cy="3048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769415"/>
              </p:ext>
            </p:extLst>
          </p:nvPr>
        </p:nvGraphicFramePr>
        <p:xfrm>
          <a:off x="4760370" y="3754524"/>
          <a:ext cx="758847" cy="3048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411492"/>
              </p:ext>
            </p:extLst>
          </p:nvPr>
        </p:nvGraphicFramePr>
        <p:xfrm>
          <a:off x="2123090" y="4342401"/>
          <a:ext cx="758847" cy="3048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785129"/>
              </p:ext>
            </p:extLst>
          </p:nvPr>
        </p:nvGraphicFramePr>
        <p:xfrm>
          <a:off x="3356425" y="4346657"/>
          <a:ext cx="758847" cy="304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773084"/>
              </p:ext>
            </p:extLst>
          </p:nvPr>
        </p:nvGraphicFramePr>
        <p:xfrm>
          <a:off x="4760370" y="4342401"/>
          <a:ext cx="758847" cy="304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293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625841" y="169951"/>
            <a:ext cx="6269058" cy="5044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Generating Queries, Keys and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7559" y="1059443"/>
            <a:ext cx="7662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Goal:</a:t>
            </a:r>
            <a:r>
              <a:rPr lang="en-IN" dirty="0"/>
              <a:t> to understand the relationship between different units (</a:t>
            </a:r>
            <a:r>
              <a:rPr lang="en-IN" dirty="0" err="1"/>
              <a:t>e.g</a:t>
            </a:r>
            <a:r>
              <a:rPr lang="en-IN" dirty="0"/>
              <a:t>, words) in the input sequence.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4828" y="1682846"/>
            <a:ext cx="3222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I                    love                      music</a:t>
            </a:r>
          </a:p>
        </p:txBody>
      </p:sp>
      <p:sp>
        <p:nvSpPr>
          <p:cNvPr id="6" name="Pentagon 5"/>
          <p:cNvSpPr/>
          <p:nvPr/>
        </p:nvSpPr>
        <p:spPr>
          <a:xfrm>
            <a:off x="736881" y="1752215"/>
            <a:ext cx="978408" cy="238408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input</a:t>
            </a:r>
          </a:p>
        </p:txBody>
      </p:sp>
      <p:sp>
        <p:nvSpPr>
          <p:cNvPr id="25" name="Pentagon 24"/>
          <p:cNvSpPr/>
          <p:nvPr/>
        </p:nvSpPr>
        <p:spPr>
          <a:xfrm>
            <a:off x="733256" y="2408586"/>
            <a:ext cx="978408" cy="238408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Embedding</a:t>
            </a:r>
          </a:p>
        </p:txBody>
      </p:sp>
      <p:sp>
        <p:nvSpPr>
          <p:cNvPr id="26" name="Pentagon 25"/>
          <p:cNvSpPr/>
          <p:nvPr/>
        </p:nvSpPr>
        <p:spPr>
          <a:xfrm>
            <a:off x="736881" y="3064957"/>
            <a:ext cx="978408" cy="238408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Queries</a:t>
            </a:r>
          </a:p>
        </p:txBody>
      </p:sp>
      <p:sp>
        <p:nvSpPr>
          <p:cNvPr id="29" name="Pentagon 28"/>
          <p:cNvSpPr/>
          <p:nvPr/>
        </p:nvSpPr>
        <p:spPr>
          <a:xfrm>
            <a:off x="733256" y="3796477"/>
            <a:ext cx="978408" cy="238408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Keys</a:t>
            </a:r>
          </a:p>
        </p:txBody>
      </p:sp>
      <p:sp>
        <p:nvSpPr>
          <p:cNvPr id="30" name="Pentagon 29"/>
          <p:cNvSpPr/>
          <p:nvPr/>
        </p:nvSpPr>
        <p:spPr>
          <a:xfrm>
            <a:off x="733256" y="4408793"/>
            <a:ext cx="978408" cy="238408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Values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2123090" y="2375390"/>
          <a:ext cx="758847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/>
          </p:nvPr>
        </p:nvGraphicFramePr>
        <p:xfrm>
          <a:off x="3356425" y="2379646"/>
          <a:ext cx="758847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4760370" y="2375390"/>
          <a:ext cx="758847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2123090" y="3064957"/>
          <a:ext cx="758847" cy="304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/>
          </p:nvPr>
        </p:nvGraphicFramePr>
        <p:xfrm>
          <a:off x="3356425" y="3069213"/>
          <a:ext cx="758847" cy="304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/>
          </p:nvPr>
        </p:nvGraphicFramePr>
        <p:xfrm>
          <a:off x="4760370" y="3064957"/>
          <a:ext cx="758847" cy="304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/>
          </p:nvPr>
        </p:nvGraphicFramePr>
        <p:xfrm>
          <a:off x="2123090" y="3754524"/>
          <a:ext cx="758847" cy="3048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/>
          </p:nvPr>
        </p:nvGraphicFramePr>
        <p:xfrm>
          <a:off x="3356425" y="3758780"/>
          <a:ext cx="758847" cy="3048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/>
          </p:nvPr>
        </p:nvGraphicFramePr>
        <p:xfrm>
          <a:off x="4760370" y="3754524"/>
          <a:ext cx="758847" cy="3048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/>
          </p:nvPr>
        </p:nvGraphicFramePr>
        <p:xfrm>
          <a:off x="2123090" y="4342401"/>
          <a:ext cx="758847" cy="3048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/>
          </p:nvPr>
        </p:nvGraphicFramePr>
        <p:xfrm>
          <a:off x="3356425" y="4346657"/>
          <a:ext cx="758847" cy="304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>
            <p:extLst/>
          </p:nvPr>
        </p:nvGraphicFramePr>
        <p:xfrm>
          <a:off x="4760370" y="4342401"/>
          <a:ext cx="758847" cy="304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52949">
                  <a:extLst>
                    <a:ext uri="{9D8B030D-6E8A-4147-A177-3AD203B41FA5}">
                      <a16:colId xmlns:a16="http://schemas.microsoft.com/office/drawing/2014/main" val="4259974556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662030071"/>
                    </a:ext>
                  </a:extLst>
                </a:gridCol>
                <a:gridCol w="252949">
                  <a:extLst>
                    <a:ext uri="{9D8B030D-6E8A-4147-A177-3AD203B41FA5}">
                      <a16:colId xmlns:a16="http://schemas.microsoft.com/office/drawing/2014/main" val="2774656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0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2455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625841" y="169951"/>
            <a:ext cx="6269058" cy="5044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Self-attention: Scaled Dot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7559" y="1059443"/>
            <a:ext cx="7662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Goal:</a:t>
            </a:r>
            <a:r>
              <a:rPr lang="en-IN" dirty="0"/>
              <a:t> to understand the relationship between different units (</a:t>
            </a:r>
            <a:r>
              <a:rPr lang="en-IN" dirty="0" err="1"/>
              <a:t>e.g</a:t>
            </a:r>
            <a:r>
              <a:rPr lang="en-IN" dirty="0"/>
              <a:t>, words) in the input sequence.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91" y="1943728"/>
            <a:ext cx="3639582" cy="2287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934606" y="2418431"/>
                <a:ext cx="3307059" cy="5568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𝑨𝒕𝒕𝒆𝒏𝒕𝒊𝒐𝒏</m:t>
                      </m:r>
                      <m:d>
                        <m:d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𝒔𝒐𝒇𝒕𝒎𝒂𝒙</m:t>
                      </m:r>
                      <m:d>
                        <m:d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  <m:sSup>
                                <m:sSupPr>
                                  <m:ctrlP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p>
                                  <m: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I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1" i="1" smtClean="0">
                                          <a:latin typeface="Cambria Math" panose="02040503050406030204" pitchFamily="18" charset="0"/>
                                        </a:rPr>
                                        <m:t>𝒅</m:t>
                                      </m:r>
                                    </m:e>
                                    <m:sub>
                                      <m:r>
                                        <a:rPr lang="en-IN" b="1" i="1" smtClean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606" y="2418431"/>
                <a:ext cx="3307059" cy="5568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883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625841" y="169951"/>
            <a:ext cx="6269058" cy="5044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Understanding Multi-headed attention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18" y="1704093"/>
            <a:ext cx="2305245" cy="144901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66" y="1704092"/>
            <a:ext cx="2305245" cy="144901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384" y="1704092"/>
            <a:ext cx="2305245" cy="14490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6017" y="11035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Head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496" y="1103585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Head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9496" y="11035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Head 3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496" y="3384990"/>
            <a:ext cx="979413" cy="587287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981" y="3361880"/>
            <a:ext cx="979413" cy="58728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844" y="3380914"/>
            <a:ext cx="981541" cy="59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99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625841" y="169951"/>
            <a:ext cx="6269058" cy="5044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Understanding Multi-headed attention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18" y="1483374"/>
            <a:ext cx="2305245" cy="144901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66" y="1483373"/>
            <a:ext cx="2305245" cy="144901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384" y="1483373"/>
            <a:ext cx="2305245" cy="14490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6017" y="882867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Head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496" y="88286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Head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9496" y="882865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Head 3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884" y="3031841"/>
            <a:ext cx="979413" cy="587287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864" y="3031840"/>
            <a:ext cx="979413" cy="58728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844" y="3006690"/>
            <a:ext cx="981541" cy="59136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636" y="3970466"/>
            <a:ext cx="979413" cy="58728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233" y="3979369"/>
            <a:ext cx="979413" cy="58728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702" y="3970466"/>
            <a:ext cx="981541" cy="5913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69247" y="4119123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103979" y="4084625"/>
            <a:ext cx="1536071" cy="376772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6271956" y="4119123"/>
            <a:ext cx="488298" cy="2055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1809" y="3989356"/>
            <a:ext cx="1783833" cy="43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02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538213" y="176574"/>
            <a:ext cx="6269058" cy="5044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Encoder Block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50417" y="1097280"/>
            <a:ext cx="3033285" cy="315310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981671" y="4779158"/>
            <a:ext cx="1489589" cy="190594"/>
          </a:xfrm>
          <a:prstGeom prst="rect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 like music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9557" y="4408060"/>
            <a:ext cx="1553816" cy="1944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FFFF00"/>
                </a:solidFill>
              </a:rPr>
              <a:t>Embedding </a:t>
            </a:r>
          </a:p>
        </p:txBody>
      </p:sp>
      <p:cxnSp>
        <p:nvCxnSpPr>
          <p:cNvPr id="19" name="Straight Arrow Connector 18"/>
          <p:cNvCxnSpPr>
            <a:stCxn id="6" idx="0"/>
            <a:endCxn id="18" idx="2"/>
          </p:cNvCxnSpPr>
          <p:nvPr/>
        </p:nvCxnSpPr>
        <p:spPr>
          <a:xfrm flipH="1" flipV="1">
            <a:off x="3726465" y="4602525"/>
            <a:ext cx="1" cy="176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8" idx="0"/>
          </p:cNvCxnSpPr>
          <p:nvPr/>
        </p:nvCxnSpPr>
        <p:spPr>
          <a:xfrm flipV="1">
            <a:off x="3726465" y="3834175"/>
            <a:ext cx="0" cy="573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676481" y="3411658"/>
            <a:ext cx="2099967" cy="422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Multi-headed attention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3115266" y="3834175"/>
            <a:ext cx="611198" cy="286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3726464" y="3834175"/>
            <a:ext cx="744796" cy="286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676481" y="2803099"/>
            <a:ext cx="2099966" cy="3153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Add and normalize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76481" y="2169335"/>
            <a:ext cx="2099966" cy="3153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Feedforward Network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76481" y="1437815"/>
            <a:ext cx="2099966" cy="3153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Add and normalize</a:t>
            </a:r>
          </a:p>
        </p:txBody>
      </p:sp>
      <p:cxnSp>
        <p:nvCxnSpPr>
          <p:cNvPr id="32" name="Straight Arrow Connector 31"/>
          <p:cNvCxnSpPr>
            <a:stCxn id="4" idx="0"/>
            <a:endCxn id="26" idx="2"/>
          </p:cNvCxnSpPr>
          <p:nvPr/>
        </p:nvCxnSpPr>
        <p:spPr>
          <a:xfrm flipH="1" flipV="1">
            <a:off x="3726464" y="3118410"/>
            <a:ext cx="1" cy="293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endCxn id="26" idx="1"/>
          </p:cNvCxnSpPr>
          <p:nvPr/>
        </p:nvCxnSpPr>
        <p:spPr>
          <a:xfrm rot="16200000" flipV="1">
            <a:off x="2621291" y="3015945"/>
            <a:ext cx="1160362" cy="1049982"/>
          </a:xfrm>
          <a:prstGeom prst="bentConnector4">
            <a:avLst>
              <a:gd name="adj1" fmla="val -2444"/>
              <a:gd name="adj2" fmla="val 121772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26" idx="0"/>
            <a:endCxn id="29" idx="2"/>
          </p:cNvCxnSpPr>
          <p:nvPr/>
        </p:nvCxnSpPr>
        <p:spPr>
          <a:xfrm flipV="1">
            <a:off x="3726464" y="2484646"/>
            <a:ext cx="0" cy="318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/>
          <p:nvPr/>
        </p:nvCxnSpPr>
        <p:spPr>
          <a:xfrm rot="10800000">
            <a:off x="2676481" y="1652214"/>
            <a:ext cx="1049984" cy="1021622"/>
          </a:xfrm>
          <a:prstGeom prst="bentConnector3">
            <a:avLst>
              <a:gd name="adj1" fmla="val 123273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702" name="Straight Arrow Connector 29701"/>
          <p:cNvCxnSpPr>
            <a:stCxn id="29" idx="0"/>
            <a:endCxn id="30" idx="2"/>
          </p:cNvCxnSpPr>
          <p:nvPr/>
        </p:nvCxnSpPr>
        <p:spPr>
          <a:xfrm flipV="1">
            <a:off x="3726464" y="1753126"/>
            <a:ext cx="0" cy="416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04" name="Straight Arrow Connector 29703"/>
          <p:cNvCxnSpPr>
            <a:stCxn id="30" idx="0"/>
          </p:cNvCxnSpPr>
          <p:nvPr/>
        </p:nvCxnSpPr>
        <p:spPr>
          <a:xfrm flipH="1" flipV="1">
            <a:off x="3726463" y="1198179"/>
            <a:ext cx="1" cy="239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324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569743" y="161760"/>
            <a:ext cx="6269058" cy="45624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Add and Normalize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9698" y="744750"/>
            <a:ext cx="4048586" cy="362484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2251316" y="3487333"/>
            <a:ext cx="3436883" cy="454047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Self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1316" y="2328217"/>
            <a:ext cx="3512557" cy="66215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(Add and normalize)</a:t>
            </a:r>
          </a:p>
          <a:p>
            <a:pPr algn="ctr"/>
            <a:r>
              <a:rPr lang="en-IN" dirty="0" err="1"/>
              <a:t>LayerNormalization</a:t>
            </a:r>
            <a:r>
              <a:rPr lang="en-IN" dirty="0"/>
              <a:t>(e + 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36736" y="1552773"/>
            <a:ext cx="1008993" cy="372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5679" y="1552773"/>
            <a:ext cx="952237" cy="3342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FCNN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1851" y="4546775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4850" y="4519009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w2</a:t>
            </a:r>
          </a:p>
        </p:txBody>
      </p:sp>
      <p:cxnSp>
        <p:nvCxnSpPr>
          <p:cNvPr id="10" name="Straight Arrow Connector 9"/>
          <p:cNvCxnSpPr>
            <a:stCxn id="8" idx="0"/>
          </p:cNvCxnSpPr>
          <p:nvPr/>
        </p:nvCxnSpPr>
        <p:spPr>
          <a:xfrm flipV="1">
            <a:off x="2798799" y="4035972"/>
            <a:ext cx="0" cy="510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0"/>
          </p:cNvCxnSpPr>
          <p:nvPr/>
        </p:nvCxnSpPr>
        <p:spPr>
          <a:xfrm flipV="1">
            <a:off x="4981798" y="4017054"/>
            <a:ext cx="0" cy="501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71776" y="2990369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4926" y="3013752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v2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4981798" y="3262233"/>
            <a:ext cx="0" cy="218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4" idx="2"/>
          </p:cNvCxnSpPr>
          <p:nvPr/>
        </p:nvCxnSpPr>
        <p:spPr>
          <a:xfrm flipV="1">
            <a:off x="2743200" y="3298146"/>
            <a:ext cx="15486" cy="18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27117" y="3970371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0030" y="3931221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361" y="1880476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z1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1749" y="1846405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z2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41099" y="896624"/>
            <a:ext cx="3015503" cy="4309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(Add and normalize)</a:t>
            </a:r>
          </a:p>
          <a:p>
            <a:pPr algn="ctr"/>
            <a:r>
              <a:rPr lang="en-IN" dirty="0" err="1"/>
              <a:t>LayerNormalization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AB14498-9E13-4AAF-94F9-DD9FAE9B6D81}"/>
              </a:ext>
            </a:extLst>
          </p:cNvPr>
          <p:cNvCxnSpPr>
            <a:cxnSpLocks/>
            <a:endCxn id="28" idx="2"/>
          </p:cNvCxnSpPr>
          <p:nvPr/>
        </p:nvCxnSpPr>
        <p:spPr>
          <a:xfrm flipH="1" flipV="1">
            <a:off x="2857271" y="2188253"/>
            <a:ext cx="232" cy="139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BE21C9-77B9-4302-83B2-42162B96EF11}"/>
              </a:ext>
            </a:extLst>
          </p:cNvPr>
          <p:cNvCxnSpPr>
            <a:endCxn id="36" idx="2"/>
          </p:cNvCxnSpPr>
          <p:nvPr/>
        </p:nvCxnSpPr>
        <p:spPr>
          <a:xfrm flipH="1" flipV="1">
            <a:off x="4938659" y="2154182"/>
            <a:ext cx="4809" cy="174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3E1DF49-D8E5-49DD-922B-CA67BA48DE0D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941233" y="1327545"/>
            <a:ext cx="0" cy="225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ED957E-0820-4804-B7CD-29AF5961750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4981798" y="1349441"/>
            <a:ext cx="0" cy="203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679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092" y="2363685"/>
            <a:ext cx="7022419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3003450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601274" y="163961"/>
            <a:ext cx="6269058" cy="49819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Decoder Block: Inside Look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23444" y="819806"/>
            <a:ext cx="3323371" cy="361976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4069340" y="4569458"/>
            <a:ext cx="35766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Positional encoding of output (right shifted)</a:t>
            </a:r>
          </a:p>
        </p:txBody>
      </p:sp>
      <p:sp>
        <p:nvSpPr>
          <p:cNvPr id="6" name="Up Arrow 5"/>
          <p:cNvSpPr/>
          <p:nvPr/>
        </p:nvSpPr>
        <p:spPr>
          <a:xfrm>
            <a:off x="5810354" y="4073810"/>
            <a:ext cx="94593" cy="47927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4419600" y="3733275"/>
            <a:ext cx="2978150" cy="3026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Masked multi-headed self 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39654" y="3317066"/>
            <a:ext cx="2635994" cy="2648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Add and normalize</a:t>
            </a:r>
          </a:p>
        </p:txBody>
      </p:sp>
      <p:cxnSp>
        <p:nvCxnSpPr>
          <p:cNvPr id="10" name="Straight Arrow Connector 9"/>
          <p:cNvCxnSpPr>
            <a:cxnSpLocks/>
            <a:stCxn id="7" idx="0"/>
            <a:endCxn id="8" idx="2"/>
          </p:cNvCxnSpPr>
          <p:nvPr/>
        </p:nvCxnSpPr>
        <p:spPr>
          <a:xfrm flipH="1" flipV="1">
            <a:off x="5857651" y="3581925"/>
            <a:ext cx="51024" cy="151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endCxn id="8" idx="1"/>
          </p:cNvCxnSpPr>
          <p:nvPr/>
        </p:nvCxnSpPr>
        <p:spPr>
          <a:xfrm rot="10800000">
            <a:off x="4539654" y="3449496"/>
            <a:ext cx="1223404" cy="845030"/>
          </a:xfrm>
          <a:prstGeom prst="bentConnector3">
            <a:avLst>
              <a:gd name="adj1" fmla="val 1186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39653" y="2793649"/>
            <a:ext cx="2635995" cy="3279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Multi-headed Cross attention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54" y="1042513"/>
            <a:ext cx="2347163" cy="3724979"/>
          </a:xfrm>
          <a:prstGeom prst="rect">
            <a:avLst/>
          </a:prstGeom>
        </p:spPr>
      </p:pic>
      <p:cxnSp>
        <p:nvCxnSpPr>
          <p:cNvPr id="16" name="Straight Arrow Connector 15"/>
          <p:cNvCxnSpPr>
            <a:stCxn id="14" idx="0"/>
          </p:cNvCxnSpPr>
          <p:nvPr/>
        </p:nvCxnSpPr>
        <p:spPr>
          <a:xfrm>
            <a:off x="1460836" y="1042513"/>
            <a:ext cx="3078817" cy="191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0"/>
            <a:endCxn id="13" idx="2"/>
          </p:cNvCxnSpPr>
          <p:nvPr/>
        </p:nvCxnSpPr>
        <p:spPr>
          <a:xfrm flipV="1">
            <a:off x="5857651" y="3121572"/>
            <a:ext cx="0" cy="195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39653" y="2292308"/>
            <a:ext cx="2635994" cy="2648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Add and normalize</a:t>
            </a:r>
          </a:p>
        </p:txBody>
      </p:sp>
      <p:cxnSp>
        <p:nvCxnSpPr>
          <p:cNvPr id="20" name="Straight Arrow Connector 19"/>
          <p:cNvCxnSpPr>
            <a:stCxn id="13" idx="0"/>
          </p:cNvCxnSpPr>
          <p:nvPr/>
        </p:nvCxnSpPr>
        <p:spPr>
          <a:xfrm flipH="1" flipV="1">
            <a:off x="5857650" y="2557167"/>
            <a:ext cx="1" cy="236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39653" y="1740513"/>
            <a:ext cx="2635994" cy="3342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Feedforward network</a:t>
            </a:r>
          </a:p>
        </p:txBody>
      </p:sp>
      <p:cxnSp>
        <p:nvCxnSpPr>
          <p:cNvPr id="27" name="Straight Arrow Connector 26"/>
          <p:cNvCxnSpPr>
            <a:stCxn id="21" idx="0"/>
            <a:endCxn id="25" idx="2"/>
          </p:cNvCxnSpPr>
          <p:nvPr/>
        </p:nvCxnSpPr>
        <p:spPr>
          <a:xfrm flipV="1">
            <a:off x="5857650" y="2074742"/>
            <a:ext cx="0" cy="217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29379" y="1181801"/>
            <a:ext cx="2635994" cy="2648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Add and normalize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5847376" y="1446660"/>
            <a:ext cx="0" cy="293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/>
          <p:nvPr/>
        </p:nvCxnSpPr>
        <p:spPr>
          <a:xfrm rot="10800000">
            <a:off x="4529380" y="1314231"/>
            <a:ext cx="1317997" cy="869295"/>
          </a:xfrm>
          <a:prstGeom prst="bentConnector3">
            <a:avLst>
              <a:gd name="adj1" fmla="val 1184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/>
          <p:nvPr/>
        </p:nvCxnSpPr>
        <p:spPr>
          <a:xfrm flipV="1">
            <a:off x="5847376" y="2424737"/>
            <a:ext cx="1328271" cy="794582"/>
          </a:xfrm>
          <a:prstGeom prst="bentConnector3">
            <a:avLst>
              <a:gd name="adj1" fmla="val 1131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5151355" y="662152"/>
            <a:ext cx="0" cy="519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5857650" y="662152"/>
            <a:ext cx="0" cy="519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6558455" y="662152"/>
            <a:ext cx="12613" cy="519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442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557131" y="218515"/>
            <a:ext cx="6269058" cy="5567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Masked Self-attention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74763" y="1040524"/>
            <a:ext cx="8138617" cy="3738030"/>
          </a:xfrm>
        </p:spPr>
        <p:txBody>
          <a:bodyPr/>
          <a:lstStyle/>
          <a:p>
            <a:r>
              <a:rPr lang="en-IN" dirty="0"/>
              <a:t>Similar to self-attention, but </a:t>
            </a:r>
          </a:p>
          <a:p>
            <a:endParaRPr lang="en-IN" dirty="0"/>
          </a:p>
          <a:p>
            <a:pPr lvl="1"/>
            <a:r>
              <a:rPr lang="en-US" dirty="0"/>
              <a:t>Stops positions from attending to subsequent positions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Words do not get influenced by </a:t>
            </a:r>
            <a:r>
              <a:rPr lang="en-IN" dirty="0"/>
              <a:t>future tokens   (can’t see the future)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For example, when we are generating “good” in “Life is good”, the masked self attention mechanism will only consider “Life” and “is” to generate “good”. </a:t>
            </a:r>
          </a:p>
        </p:txBody>
      </p:sp>
    </p:spTree>
    <p:extLst>
      <p:ext uri="{BB962C8B-B14F-4D97-AF65-F5344CB8AC3E}">
        <p14:creationId xmlns:p14="http://schemas.microsoft.com/office/powerpoint/2010/main" val="1603627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557131" y="218515"/>
            <a:ext cx="6269058" cy="5567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</a:rPr>
              <a:t>Encoder-decoder attention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57" y="1197768"/>
            <a:ext cx="3723398" cy="28192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14407" y="1723610"/>
            <a:ext cx="471956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Interplay between encoder and decoder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Queries come from the previous decoder layer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Keys and values come from the output of the 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6129EC-9F2C-46F5-A828-5F76C49BE5A0}"/>
                  </a:ext>
                </a:extLst>
              </p:cNvPr>
              <p:cNvSpPr txBox="1"/>
              <p:nvPr/>
            </p:nvSpPr>
            <p:spPr>
              <a:xfrm>
                <a:off x="4636156" y="3460235"/>
                <a:ext cx="3307059" cy="5568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𝑨𝒕𝒕𝒆𝒏𝒕𝒊𝒐𝒏</m:t>
                      </m:r>
                      <m:d>
                        <m:d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𝒔𝒐𝒇𝒕𝒎𝒂𝒙</m:t>
                      </m:r>
                      <m:d>
                        <m:d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  <m:sSup>
                                <m:sSupPr>
                                  <m:ctrlP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p>
                                  <m: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I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1" i="1" smtClean="0">
                                          <a:latin typeface="Cambria Math" panose="02040503050406030204" pitchFamily="18" charset="0"/>
                                        </a:rPr>
                                        <m:t>𝒅</m:t>
                                      </m:r>
                                    </m:e>
                                    <m:sub>
                                      <m:r>
                                        <a:rPr lang="en-IN" b="1" i="1" smtClean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6129EC-9F2C-46F5-A828-5F76C49BE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156" y="3460235"/>
                <a:ext cx="3307059" cy="5568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5836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249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216" y="1753124"/>
            <a:ext cx="8520600" cy="1021607"/>
          </a:xfrm>
        </p:spPr>
        <p:txBody>
          <a:bodyPr>
            <a:normAutofit/>
          </a:bodyPr>
          <a:lstStyle/>
          <a:p>
            <a:r>
              <a:rPr lang="en-US" sz="3200" dirty="0"/>
              <a:t>Positional Encoding</a:t>
            </a:r>
          </a:p>
        </p:txBody>
      </p:sp>
    </p:spTree>
    <p:extLst>
      <p:ext uri="{BB962C8B-B14F-4D97-AF65-F5344CB8AC3E}">
        <p14:creationId xmlns:p14="http://schemas.microsoft.com/office/powerpoint/2010/main" val="1203824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3050" y="211242"/>
            <a:ext cx="5109998" cy="583122"/>
          </a:xfrm>
        </p:spPr>
        <p:txBody>
          <a:bodyPr>
            <a:normAutofit fontScale="90000"/>
          </a:bodyPr>
          <a:lstStyle/>
          <a:p>
            <a:r>
              <a:rPr lang="en-US" dirty="0"/>
              <a:t>Motivation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Recurrent Networks explicitly takes into account sequential information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But transformers do not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</a:t>
            </a:r>
          </a:p>
        </p:txBody>
      </p:sp>
    </p:spTree>
    <p:extLst>
      <p:ext uri="{BB962C8B-B14F-4D97-AF65-F5344CB8AC3E}">
        <p14:creationId xmlns:p14="http://schemas.microsoft.com/office/powerpoint/2010/main" val="2187578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151" y="169125"/>
            <a:ext cx="5407897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27912"/>
            <a:ext cx="7886700" cy="3846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Words flow simultaneously through </a:t>
            </a:r>
          </a:p>
          <a:p>
            <a:pPr marL="0" indent="0">
              <a:buNone/>
            </a:pPr>
            <a:r>
              <a:rPr lang="en-US" dirty="0"/>
              <a:t>the encoder/decoder stacks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934" y="1551116"/>
            <a:ext cx="4124416" cy="291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83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961" y="225881"/>
            <a:ext cx="6789089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>
              <a:lnSpc>
                <a:spcPct val="250000"/>
              </a:lnSpc>
              <a:buFont typeface="+mj-lt"/>
              <a:buAutoNum type="arabicPeriod"/>
            </a:pPr>
            <a:r>
              <a:rPr lang="en-US" dirty="0"/>
              <a:t>Unique positional encoding for each time step</a:t>
            </a:r>
          </a:p>
          <a:p>
            <a:pPr marL="342900">
              <a:lnSpc>
                <a:spcPct val="250000"/>
              </a:lnSpc>
              <a:buFont typeface="+mj-lt"/>
              <a:buAutoNum type="arabicPeriod"/>
            </a:pPr>
            <a:r>
              <a:rPr lang="en-US" dirty="0"/>
              <a:t>Reasonable notion of relative distance</a:t>
            </a:r>
          </a:p>
          <a:p>
            <a:pPr marL="342900">
              <a:lnSpc>
                <a:spcPct val="250000"/>
              </a:lnSpc>
              <a:buFont typeface="+mj-lt"/>
              <a:buAutoNum type="arabicPeriod"/>
            </a:pPr>
            <a:r>
              <a:rPr lang="en-US" dirty="0"/>
              <a:t>Independent of sentence size</a:t>
            </a:r>
          </a:p>
          <a:p>
            <a:pPr marL="342900">
              <a:lnSpc>
                <a:spcPct val="250000"/>
              </a:lnSpc>
              <a:buFont typeface="+mj-lt"/>
              <a:buAutoNum type="arabicPeriod"/>
            </a:pPr>
            <a:r>
              <a:rPr lang="en-US" dirty="0"/>
              <a:t>Deterministic</a:t>
            </a:r>
          </a:p>
        </p:txBody>
      </p:sp>
    </p:spTree>
    <p:extLst>
      <p:ext uri="{BB962C8B-B14F-4D97-AF65-F5344CB8AC3E}">
        <p14:creationId xmlns:p14="http://schemas.microsoft.com/office/powerpoint/2010/main" val="1407085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573" y="143515"/>
            <a:ext cx="687107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Sinusoidal/</a:t>
            </a:r>
            <a:r>
              <a:rPr lang="en-US" dirty="0" err="1"/>
              <a:t>Cosinusoidal</a:t>
            </a:r>
            <a:r>
              <a:rPr lang="en-US" dirty="0"/>
              <a:t> Positional 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Position will be a vector (instead of scalar)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47" y="2258500"/>
            <a:ext cx="5136356" cy="11287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657" y="1011810"/>
            <a:ext cx="2339602" cy="40219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573" y="3170799"/>
            <a:ext cx="2614613" cy="92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65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489" y="206962"/>
            <a:ext cx="7217911" cy="572700"/>
          </a:xfrm>
        </p:spPr>
        <p:txBody>
          <a:bodyPr>
            <a:normAutofit fontScale="90000"/>
          </a:bodyPr>
          <a:lstStyle/>
          <a:p>
            <a:r>
              <a:rPr lang="en-IN" dirty="0"/>
              <a:t>Positional Encoding: Example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590471"/>
              </p:ext>
            </p:extLst>
          </p:nvPr>
        </p:nvGraphicFramePr>
        <p:xfrm>
          <a:off x="767255" y="2929802"/>
          <a:ext cx="12696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650">
                  <a:extLst>
                    <a:ext uri="{9D8B030D-6E8A-4147-A177-3AD203B41FA5}">
                      <a16:colId xmlns:a16="http://schemas.microsoft.com/office/drawing/2014/main" val="369833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Tokens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65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774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99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music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1412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773030"/>
              </p:ext>
            </p:extLst>
          </p:nvPr>
        </p:nvGraphicFramePr>
        <p:xfrm>
          <a:off x="2420532" y="2929802"/>
          <a:ext cx="12696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650">
                  <a:extLst>
                    <a:ext uri="{9D8B030D-6E8A-4147-A177-3AD203B41FA5}">
                      <a16:colId xmlns:a16="http://schemas.microsoft.com/office/drawing/2014/main" val="369833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65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774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99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14126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177015"/>
              </p:ext>
            </p:extLst>
          </p:nvPr>
        </p:nvGraphicFramePr>
        <p:xfrm>
          <a:off x="4260894" y="2980249"/>
          <a:ext cx="4063300" cy="1432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825">
                  <a:extLst>
                    <a:ext uri="{9D8B030D-6E8A-4147-A177-3AD203B41FA5}">
                      <a16:colId xmlns:a16="http://schemas.microsoft.com/office/drawing/2014/main" val="2530855268"/>
                    </a:ext>
                  </a:extLst>
                </a:gridCol>
                <a:gridCol w="1015825">
                  <a:extLst>
                    <a:ext uri="{9D8B030D-6E8A-4147-A177-3AD203B41FA5}">
                      <a16:colId xmlns:a16="http://schemas.microsoft.com/office/drawing/2014/main" val="3836942261"/>
                    </a:ext>
                  </a:extLst>
                </a:gridCol>
                <a:gridCol w="1015825">
                  <a:extLst>
                    <a:ext uri="{9D8B030D-6E8A-4147-A177-3AD203B41FA5}">
                      <a16:colId xmlns:a16="http://schemas.microsoft.com/office/drawing/2014/main" val="3416849208"/>
                    </a:ext>
                  </a:extLst>
                </a:gridCol>
                <a:gridCol w="1015825">
                  <a:extLst>
                    <a:ext uri="{9D8B030D-6E8A-4147-A177-3AD203B41FA5}">
                      <a16:colId xmlns:a16="http://schemas.microsoft.com/office/drawing/2014/main" val="1867405034"/>
                    </a:ext>
                  </a:extLst>
                </a:gridCol>
              </a:tblGrid>
              <a:tr h="358228">
                <a:tc>
                  <a:txBody>
                    <a:bodyPr/>
                    <a:lstStyle/>
                    <a:p>
                      <a:r>
                        <a:rPr lang="en-IN" dirty="0" err="1"/>
                        <a:t>i</a:t>
                      </a:r>
                      <a:r>
                        <a:rPr lang="en-IN" dirty="0"/>
                        <a:t>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i</a:t>
                      </a:r>
                      <a:r>
                        <a:rPr lang="en-IN" dirty="0"/>
                        <a:t>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i</a:t>
                      </a:r>
                      <a:r>
                        <a:rPr lang="en-IN" dirty="0"/>
                        <a:t>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i</a:t>
                      </a:r>
                      <a:r>
                        <a:rPr lang="en-IN" dirty="0"/>
                        <a:t>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251504"/>
                  </a:ext>
                </a:extLst>
              </a:tr>
              <a:tr h="358228">
                <a:tc>
                  <a:txBody>
                    <a:bodyPr/>
                    <a:lstStyle/>
                    <a:p>
                      <a:r>
                        <a:rPr lang="en-IN" dirty="0"/>
                        <a:t>Sin(0)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Cos(0)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Sin(0)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Cos(0)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264080"/>
                  </a:ext>
                </a:extLst>
              </a:tr>
              <a:tr h="35822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20597"/>
                  </a:ext>
                </a:extLst>
              </a:tr>
              <a:tr h="35822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717573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55" y="1142852"/>
            <a:ext cx="3345350" cy="119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0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68" y="2439360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7531933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10362</TotalTime>
  <Words>632</Words>
  <Application>Microsoft Office PowerPoint</Application>
  <PresentationFormat>On-screen Show (16:9)</PresentationFormat>
  <Paragraphs>184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Quattrocento Sans</vt:lpstr>
      <vt:lpstr>Cambria Math</vt:lpstr>
      <vt:lpstr>Arial</vt:lpstr>
      <vt:lpstr>Simple Light</vt:lpstr>
      <vt:lpstr>Introduction to Transformer Model</vt:lpstr>
      <vt:lpstr>Recap of Necessary Concepts</vt:lpstr>
      <vt:lpstr>Projection and Learning</vt:lpstr>
      <vt:lpstr>Feedforward Neural Net and its Matrix Form  </vt:lpstr>
      <vt:lpstr>Softmax</vt:lpstr>
      <vt:lpstr>Layer Normalization  </vt:lpstr>
      <vt:lpstr>What is Transformer?</vt:lpstr>
      <vt:lpstr>What is Transformer?</vt:lpstr>
      <vt:lpstr>Transformer Architecture</vt:lpstr>
      <vt:lpstr>Transformer Architecture</vt:lpstr>
      <vt:lpstr>Encoder Block: Inside Look</vt:lpstr>
      <vt:lpstr>Encoder Block: Multi-headed Attention</vt:lpstr>
      <vt:lpstr>Understanding Self-attention</vt:lpstr>
      <vt:lpstr>Generating Queries, Keys and Values</vt:lpstr>
      <vt:lpstr>Self-attention: Scaled Dot Product</vt:lpstr>
      <vt:lpstr>Understanding Multi-headed attention</vt:lpstr>
      <vt:lpstr>Understanding Multi-headed attention</vt:lpstr>
      <vt:lpstr>Encoder Block</vt:lpstr>
      <vt:lpstr>Add and Normalize</vt:lpstr>
      <vt:lpstr>DECODER</vt:lpstr>
      <vt:lpstr>Decoder Block: Inside Look</vt:lpstr>
      <vt:lpstr>Masked Self-attention</vt:lpstr>
      <vt:lpstr>Encoder-decoder attention</vt:lpstr>
      <vt:lpstr>PowerPoint Presentation</vt:lpstr>
      <vt:lpstr>Positional Encoding</vt:lpstr>
      <vt:lpstr>Motivation</vt:lpstr>
      <vt:lpstr>Motivation</vt:lpstr>
      <vt:lpstr>Properties</vt:lpstr>
      <vt:lpstr>Sinusoidal/Cosinusoidal Positional Embedding</vt:lpstr>
      <vt:lpstr>Positional Encoding: Example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Name</dc:title>
  <dc:creator>jiaul</dc:creator>
  <cp:lastModifiedBy>CE&amp;T-03</cp:lastModifiedBy>
  <cp:revision>299</cp:revision>
  <dcterms:modified xsi:type="dcterms:W3CDTF">2026-01-10T06:31:44Z</dcterms:modified>
</cp:coreProperties>
</file>